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Noto Sans"/>
      <p:regular r:id="rId15"/>
      <p:bold r:id="rId16"/>
      <p:italic r:id="rId17"/>
      <p:boldItalic r:id="rId18"/>
    </p:embeddedFont>
    <p:embeddedFont>
      <p:font typeface="Space Grotesk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/8YYA26Pz/4Xtus2TVXC0gkR1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NotoSans-regular.fntdata"/><Relationship Id="rId14" Type="http://schemas.openxmlformats.org/officeDocument/2006/relationships/slide" Target="slides/slide10.xml"/><Relationship Id="rId17" Type="http://schemas.openxmlformats.org/officeDocument/2006/relationships/font" Target="fonts/NotoSans-italic.fntdata"/><Relationship Id="rId16" Type="http://schemas.openxmlformats.org/officeDocument/2006/relationships/font" Target="fonts/NotoSans-bold.fntdata"/><Relationship Id="rId5" Type="http://schemas.openxmlformats.org/officeDocument/2006/relationships/slide" Target="slides/slide1.xml"/><Relationship Id="rId19" Type="http://schemas.openxmlformats.org/officeDocument/2006/relationships/font" Target="fonts/SpaceGrotesk-regular.fntdata"/><Relationship Id="rId6" Type="http://schemas.openxmlformats.org/officeDocument/2006/relationships/slide" Target="slides/slide2.xml"/><Relationship Id="rId18" Type="http://schemas.openxmlformats.org/officeDocument/2006/relationships/font" Target="fonts/Noto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mailto:henrique03martins@gmail.com" TargetMode="External"/><Relationship Id="rId4" Type="http://schemas.openxmlformats.org/officeDocument/2006/relationships/hyperlink" Target="mailto:henrique03martins@gmail.com" TargetMode="External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428625" y="1355917"/>
            <a:ext cx="5072063" cy="1131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6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31"/>
              <a:buFont typeface="Noto Sans"/>
              <a:buNone/>
            </a:pPr>
            <a:r>
              <a:rPr b="1" i="0" lang="en-US" sz="3731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Agente Fiscal</a:t>
            </a:r>
            <a:br>
              <a:rPr b="1" i="0" lang="en-US" sz="3731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1" i="0" lang="en-US" sz="3731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Inteligente</a:t>
            </a:r>
            <a:endParaRPr b="0" i="0" sz="37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28625" y="2630351"/>
            <a:ext cx="5072063" cy="260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163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397"/>
              <a:buFont typeface="Noto Sans"/>
              <a:buNone/>
            </a:pPr>
            <a:r>
              <a:rPr b="1" i="0" lang="en-US" sz="1397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Automatizando a Auditoria Fiscal com IA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28625" y="3318997"/>
            <a:ext cx="5072063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7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Noto Sans"/>
              <a:buNone/>
            </a:pPr>
            <a:r>
              <a:rPr b="1" i="0" lang="en-US" sz="885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Apresentado por: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28625" y="3581865"/>
            <a:ext cx="5072063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42"/>
              <a:buFont typeface="Noto Sans"/>
              <a:buNone/>
            </a:pPr>
            <a:r>
              <a:rPr b="0" i="0" lang="en-US" sz="942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Carlos Victório &amp; Henrique Martins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929313" y="0"/>
            <a:ext cx="3214688" cy="51435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" name="Google Shape;2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5063" y="285750"/>
            <a:ext cx="2643188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" name="Google Shape;2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/>
          <p:nvPr/>
        </p:nvSpPr>
        <p:spPr>
          <a:xfrm>
            <a:off x="0" y="0"/>
            <a:ext cx="2500313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" name="Google Shape;3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285750"/>
            <a:ext cx="1928813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2928938" y="883007"/>
            <a:ext cx="5786438" cy="822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6"/>
              <a:buFont typeface="Noto Sans"/>
              <a:buNone/>
            </a:pPr>
            <a: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O Problema:</a:t>
            </a:r>
            <a:b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Auditoria Manual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071813" y="1991683"/>
            <a:ext cx="285750" cy="395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539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602"/>
              <a:buFont typeface="Noto Sans"/>
              <a:buNone/>
            </a:pPr>
            <a:r>
              <a:rPr b="1" i="0" lang="en-US" sz="1602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500438" y="1991683"/>
            <a:ext cx="4477708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Noto Sans"/>
              <a:buNone/>
            </a:pPr>
            <a:r>
              <a:rPr b="1" i="0" lang="en-US" sz="885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Consumo de Tempo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500438" y="2227427"/>
            <a:ext cx="4477708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34"/>
              <a:buFont typeface="Noto Sans"/>
              <a:buNone/>
            </a:pPr>
            <a:r>
              <a:rPr b="0" i="0" lang="en-US" sz="834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Consome tempo significativo dos profissionais em atividades repetitivas e manuais.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071813" y="2558886"/>
            <a:ext cx="285750" cy="395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539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602"/>
              <a:buFont typeface="Noto Sans"/>
              <a:buNone/>
            </a:pPr>
            <a:r>
              <a:rPr b="1" i="0" lang="en-US" sz="1602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500438" y="2558886"/>
            <a:ext cx="3807451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Noto Sans"/>
              <a:buNone/>
            </a:pPr>
            <a:r>
              <a:rPr b="1" i="0" lang="en-US" sz="885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Erros Humanos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500438" y="2794629"/>
            <a:ext cx="3807451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34"/>
              <a:buFont typeface="Noto Sans"/>
              <a:buNone/>
            </a:pPr>
            <a:r>
              <a:rPr b="0" i="0" lang="en-US" sz="834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Propensa a erros humanos e inconsistências em validações complexas.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071813" y="3126088"/>
            <a:ext cx="285750" cy="395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539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602"/>
              <a:buFont typeface="Noto Sans"/>
              <a:buNone/>
            </a:pPr>
            <a:r>
              <a:rPr b="1" i="0" lang="en-US" sz="1602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500438" y="3126088"/>
            <a:ext cx="3503535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Noto Sans"/>
              <a:buNone/>
            </a:pPr>
            <a:r>
              <a:rPr b="1" i="0" lang="en-US" sz="885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Processamento Lento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500438" y="3361832"/>
            <a:ext cx="3503535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34"/>
              <a:buFont typeface="Noto Sans"/>
              <a:buNone/>
            </a:pPr>
            <a:r>
              <a:rPr b="0" i="0" lang="en-US" sz="834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Processamento lento de grandes volumes de documentos fiscais.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071813" y="3693291"/>
            <a:ext cx="285750" cy="395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539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602"/>
              <a:buFont typeface="Noto Sans"/>
              <a:buNone/>
            </a:pPr>
            <a:r>
              <a:rPr b="1" i="0" lang="en-US" sz="1602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500438" y="3693291"/>
            <a:ext cx="3581837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Noto Sans"/>
              <a:buNone/>
            </a:pPr>
            <a:r>
              <a:rPr b="1" i="0" lang="en-US" sz="885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Complexidade Legal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500438" y="3929035"/>
            <a:ext cx="3581837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34"/>
              <a:buFont typeface="Noto Sans"/>
              <a:buNone/>
            </a:pPr>
            <a:r>
              <a:rPr b="0" i="0" lang="en-US" sz="834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Validações complexas contra legislação tributária e tabelas oficiais.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9" name="Google Shape;4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"/>
          <p:cNvSpPr/>
          <p:nvPr/>
        </p:nvSpPr>
        <p:spPr>
          <a:xfrm>
            <a:off x="428625" y="1591661"/>
            <a:ext cx="5786438" cy="822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6"/>
              <a:buFont typeface="Noto Sans"/>
              <a:buNone/>
            </a:pPr>
            <a: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 Solução:</a:t>
            </a:r>
            <a:b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IA para Auditoria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78644" y="2700338"/>
            <a:ext cx="250031" cy="35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796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397"/>
              <a:buFont typeface="Noto Sans"/>
              <a:buNone/>
            </a:pPr>
            <a:r>
              <a:rPr b="1" i="0" lang="en-US" sz="1397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📊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942975" y="2700338"/>
            <a:ext cx="159400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Extração de Dados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942975" y="2914650"/>
            <a:ext cx="1594005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De XML (NF-e, CT-e) e PDF (NFS-e).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3543300" y="2700338"/>
            <a:ext cx="228600" cy="35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796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397"/>
              <a:buFont typeface="Noto Sans"/>
              <a:buNone/>
            </a:pPr>
            <a:r>
              <a:rPr b="1" i="0" lang="en-US" sz="1397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3886200" y="2700338"/>
            <a:ext cx="125755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Validação Abrangente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3886200" y="2914650"/>
            <a:ext cx="1257551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Contra Tabela TIPI oficial.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78644" y="3197526"/>
            <a:ext cx="250031" cy="35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796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397"/>
              <a:buFont typeface="Noto Sans"/>
              <a:buNone/>
            </a:pPr>
            <a:r>
              <a:rPr b="1" i="0" lang="en-US" sz="1397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🔍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42975" y="3197526"/>
            <a:ext cx="123366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Auditoria Completa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942975" y="3411838"/>
            <a:ext cx="1233664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CNPJ, CPF, NCM, CFOP, IPI.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543300" y="3197526"/>
            <a:ext cx="250031" cy="35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796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397"/>
              <a:buFont typeface="Noto Sans"/>
              <a:buNone/>
            </a:pPr>
            <a:r>
              <a:rPr b="1" i="0" lang="en-US" sz="1397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💬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907631" y="3197526"/>
            <a:ext cx="117204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Conclusões em IA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907631" y="3411838"/>
            <a:ext cx="1172049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Linguagem natural clara.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643688" y="0"/>
            <a:ext cx="2500313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9438" y="285750"/>
            <a:ext cx="1928813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" name="Google Shape;7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4"/>
          <p:cNvSpPr/>
          <p:nvPr/>
        </p:nvSpPr>
        <p:spPr>
          <a:xfrm>
            <a:off x="428625" y="428625"/>
            <a:ext cx="8286750" cy="822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6"/>
              <a:buFont typeface="Noto Sans"/>
              <a:buNone/>
            </a:pPr>
            <a: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Público-Alvo e</a:t>
            </a:r>
            <a:b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Beneficiários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14363" y="1608739"/>
            <a:ext cx="357188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929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808"/>
              <a:buFont typeface="Noto Sans"/>
              <a:buNone/>
            </a:pPr>
            <a:r>
              <a:rPr b="1" i="0" lang="en-US" sz="1808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👔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14425" y="1898061"/>
            <a:ext cx="2739656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Noto Sans"/>
              <a:buNone/>
            </a:pPr>
            <a:r>
              <a:rPr b="1" i="0" lang="en-US" sz="885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Contadores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114425" y="2148092"/>
            <a:ext cx="27396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34"/>
              <a:buFont typeface="Noto Sans"/>
              <a:buNone/>
            </a:pPr>
            <a:r>
              <a:rPr b="0" i="0" lang="en-US" sz="834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Redução de tempo e custo na auditoria de clientes.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864894" y="1608739"/>
            <a:ext cx="357188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929"/>
              </a:lnSpc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808"/>
              <a:buFont typeface="Noto Sans"/>
              <a:buNone/>
            </a:pPr>
            <a:r>
              <a:rPr b="1" i="0" lang="en-US" sz="1808" u="none" cap="none" strike="noStrike">
                <a:solidFill>
                  <a:srgbClr val="FF3366"/>
                </a:solidFill>
                <a:latin typeface="Noto Sans"/>
                <a:ea typeface="Noto Sans"/>
                <a:cs typeface="Noto Sans"/>
                <a:sym typeface="Noto Sans"/>
              </a:rPr>
              <a:t>🏢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364956" y="1898061"/>
            <a:ext cx="332935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Noto Sans"/>
              <a:buNone/>
            </a:pPr>
            <a:r>
              <a:rPr b="1" i="0" lang="en-US" sz="885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Departamentos Fiscais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364956" y="2148092"/>
            <a:ext cx="3329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34"/>
              <a:buFont typeface="Noto Sans"/>
              <a:buNone/>
            </a:pPr>
            <a:r>
              <a:rPr b="0" i="0" lang="en-US" sz="834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Aumento da produtividade e precisão nas validações internas.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614363" y="2823177"/>
            <a:ext cx="357188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929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808"/>
              <a:buFont typeface="Noto Sans"/>
              <a:buNone/>
            </a:pPr>
            <a:r>
              <a:rPr b="1" i="0" lang="en-US" sz="1808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🔎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114425" y="3112498"/>
            <a:ext cx="3318942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Noto Sans"/>
              <a:buNone/>
            </a:pPr>
            <a:r>
              <a:rPr b="1" i="0" lang="en-US" sz="885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Auditores Fiscais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14425" y="3362530"/>
            <a:ext cx="33189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34"/>
              <a:buFont typeface="Noto Sans"/>
              <a:buNone/>
            </a:pPr>
            <a:r>
              <a:rPr b="0" i="0" lang="en-US" sz="834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Ferramenta de apoio para validações complexas e volumosas.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864894" y="2823177"/>
            <a:ext cx="357188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929"/>
              </a:lnSpc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808"/>
              <a:buFont typeface="Noto Sans"/>
              <a:buNone/>
            </a:pPr>
            <a:r>
              <a:rPr b="1" i="0" lang="en-US" sz="1808" u="none" cap="none" strike="noStrike">
                <a:solidFill>
                  <a:srgbClr val="FF3366"/>
                </a:solidFill>
                <a:latin typeface="Noto Sans"/>
                <a:ea typeface="Noto Sans"/>
                <a:cs typeface="Noto Sans"/>
                <a:sym typeface="Noto Sans"/>
              </a:rPr>
              <a:t>✅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364956" y="3112498"/>
            <a:ext cx="2902316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Noto Sans"/>
              <a:buNone/>
            </a:pPr>
            <a:r>
              <a:rPr b="1" i="0" lang="en-US" sz="885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Profissionais de Compliance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364956" y="3362530"/>
            <a:ext cx="290231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34"/>
              <a:buFont typeface="Noto Sans"/>
              <a:buNone/>
            </a:pPr>
            <a:r>
              <a:rPr b="0" i="0" lang="en-US" sz="834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Garantia de conformidade fiscal e mitigação de riscos.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9" name="Google Shape;8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/>
          <p:nvPr/>
        </p:nvSpPr>
        <p:spPr>
          <a:xfrm>
            <a:off x="0" y="0"/>
            <a:ext cx="2500313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285750"/>
            <a:ext cx="1928813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2928938" y="863724"/>
            <a:ext cx="5786438" cy="822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6"/>
              <a:buFont typeface="Noto Sans"/>
              <a:buNone/>
            </a:pPr>
            <a: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Funcionalidades-</a:t>
            </a:r>
            <a:b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Chave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057525" y="1936682"/>
            <a:ext cx="214313" cy="340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644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193"/>
              <a:buFont typeface="Noto Sans"/>
              <a:buNone/>
            </a:pPr>
            <a:r>
              <a:rPr b="1" i="0" lang="en-US" sz="1193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📄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371850" y="1936682"/>
            <a:ext cx="1676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Processamento Multiformato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371850" y="2136707"/>
            <a:ext cx="1676800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XML (NF-e, CT-e) e PDF (NFS-e).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057525" y="2405295"/>
            <a:ext cx="214313" cy="340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644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193"/>
              <a:buFont typeface="Noto Sans"/>
              <a:buNone/>
            </a:pPr>
            <a:r>
              <a:rPr b="1" i="0" lang="en-US" sz="1193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🔄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3371850" y="2405295"/>
            <a:ext cx="184155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Atualização Automática TIPI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3371850" y="2605320"/>
            <a:ext cx="1841553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Sempre com dados oficiais atualizados.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3057525" y="2873908"/>
            <a:ext cx="200025" cy="340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644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193"/>
              <a:buFont typeface="Noto Sans"/>
              <a:buNone/>
            </a:pPr>
            <a:r>
              <a:rPr b="1" i="0" lang="en-US" sz="1193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3357563" y="2873908"/>
            <a:ext cx="1369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Validações Abrangentes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357563" y="3073933"/>
            <a:ext cx="1369675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CNPJ, CPF, NCM, CFOP, IPI.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057525" y="3342522"/>
            <a:ext cx="214313" cy="340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644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193"/>
              <a:buFont typeface="Noto Sans"/>
              <a:buNone/>
            </a:pPr>
            <a:r>
              <a:rPr b="1" i="0" lang="en-US" sz="1193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🧠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371850" y="3342522"/>
            <a:ext cx="16299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IA Generativa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371850" y="3542547"/>
            <a:ext cx="1629919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Conclusões em linguagem natural.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3057525" y="3811135"/>
            <a:ext cx="214313" cy="340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644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193"/>
              <a:buFont typeface="Noto Sans"/>
              <a:buNone/>
            </a:pPr>
            <a:r>
              <a:rPr b="1" i="0" lang="en-US" sz="1193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📊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3371850" y="3811135"/>
            <a:ext cx="16138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Dashboard Interativo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3371850" y="4011160"/>
            <a:ext cx="1613818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Visualização e análise de histórico.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3" name="Google Shape;1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6"/>
          <p:cNvSpPr/>
          <p:nvPr/>
        </p:nvSpPr>
        <p:spPr>
          <a:xfrm>
            <a:off x="485775" y="745852"/>
            <a:ext cx="5729288" cy="822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6"/>
              <a:buFont typeface="Noto Sans"/>
              <a:buNone/>
            </a:pPr>
            <a: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Validações</a:t>
            </a:r>
            <a:b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Implementadas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85775" y="1854529"/>
            <a:ext cx="572928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Garantia de Conformidade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85775" y="2254579"/>
            <a:ext cx="228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644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193"/>
              <a:buFont typeface="Noto Sans"/>
              <a:buNone/>
            </a:pPr>
            <a:r>
              <a:rPr b="1" i="0" lang="en-US" sz="1193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828675" y="2240291"/>
            <a:ext cx="187344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Dígitos Verificadores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828675" y="2440316"/>
            <a:ext cx="1873448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CNPJ e CPF com validação de checksum.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85775" y="2708904"/>
            <a:ext cx="228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644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193"/>
              <a:buFont typeface="Noto Sans"/>
              <a:buNone/>
            </a:pPr>
            <a:r>
              <a:rPr b="1" i="0" lang="en-US" sz="1193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828675" y="2694617"/>
            <a:ext cx="16942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Códigos NCM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828675" y="2894642"/>
            <a:ext cx="1694213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Contra Tabela TIPI oficial atualizada.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85775" y="3163230"/>
            <a:ext cx="228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644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193"/>
              <a:buFont typeface="Noto Sans"/>
              <a:buNone/>
            </a:pPr>
            <a:r>
              <a:rPr b="1" i="0" lang="en-US" sz="1193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828675" y="3148943"/>
            <a:ext cx="169853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Alíquotas IPI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828675" y="3348968"/>
            <a:ext cx="1698538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Declaradas vs. oficiais com precisão.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85775" y="3617556"/>
            <a:ext cx="228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644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193"/>
              <a:buFont typeface="Noto Sans"/>
              <a:buNone/>
            </a:pPr>
            <a:r>
              <a:rPr b="1" i="0" lang="en-US" sz="1193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828675" y="3603268"/>
            <a:ext cx="167682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Códigos CFOP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828675" y="3803293"/>
            <a:ext cx="1676828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Validação de códigos fiscais válidos.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85775" y="4071882"/>
            <a:ext cx="228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644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193"/>
              <a:buFont typeface="Noto Sans"/>
              <a:buNone/>
            </a:pPr>
            <a:r>
              <a:rPr b="1" i="0" lang="en-US" sz="1193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828675" y="4057594"/>
            <a:ext cx="157952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Consistência de Valores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828675" y="4257619"/>
            <a:ext cx="1579522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Totais e cálculos fiscais alinhados.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643688" y="0"/>
            <a:ext cx="2500313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9438" y="285750"/>
            <a:ext cx="1928813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>
            <a:off x="428625" y="877984"/>
            <a:ext cx="8286750" cy="822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6"/>
              <a:buFont typeface="Noto Sans"/>
              <a:buNone/>
            </a:pPr>
            <a: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Stack Tecnológico</a:t>
            </a:r>
            <a:b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 Arquitetura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46484" y="2129535"/>
            <a:ext cx="1428750" cy="4107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446484" y="2518870"/>
            <a:ext cx="1428750" cy="21431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446484" y="2129535"/>
            <a:ext cx="1428750" cy="410766"/>
          </a:xfrm>
          <a:prstGeom prst="rect">
            <a:avLst/>
          </a:prstGeom>
          <a:noFill/>
          <a:ln>
            <a:noFill/>
          </a:ln>
        </p:spPr>
        <p:txBody>
          <a:bodyPr anchorCtr="0" anchor="ctr" bIns="136000" lIns="136000" spcFirstLastPara="1" rIns="136000" wrap="square" tIns="13600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Space Grotesk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Camada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875234" y="2129535"/>
            <a:ext cx="2000250" cy="4107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1875234" y="2518870"/>
            <a:ext cx="2000250" cy="21431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1875234" y="2129535"/>
            <a:ext cx="2000250" cy="410766"/>
          </a:xfrm>
          <a:prstGeom prst="rect">
            <a:avLst/>
          </a:prstGeom>
          <a:noFill/>
          <a:ln>
            <a:noFill/>
          </a:ln>
        </p:spPr>
        <p:txBody>
          <a:bodyPr anchorCtr="0" anchor="ctr" bIns="136000" lIns="136000" spcFirstLastPara="1" rIns="136000" wrap="square" tIns="13600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Space Grotesk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Tecnologia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3875484" y="2129535"/>
            <a:ext cx="4839891" cy="4107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3875484" y="2518870"/>
            <a:ext cx="4839891" cy="21431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3875484" y="2129535"/>
            <a:ext cx="4839891" cy="410766"/>
          </a:xfrm>
          <a:prstGeom prst="rect">
            <a:avLst/>
          </a:prstGeom>
          <a:noFill/>
          <a:ln>
            <a:noFill/>
          </a:ln>
        </p:spPr>
        <p:txBody>
          <a:bodyPr anchorCtr="0" anchor="ctr" bIns="136000" lIns="136000" spcFirstLastPara="1" rIns="136000" wrap="square" tIns="13600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Space Grotesk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Diferencial Técnico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46484" y="2540301"/>
            <a:ext cx="1428750" cy="421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3025" lIns="136000" spcFirstLastPara="1" rIns="136000" wrap="square" tIns="153025">
            <a:spAutoFit/>
          </a:bodyPr>
          <a:lstStyle/>
          <a:p>
            <a:pPr indent="0" lvl="0" marL="0" marR="0" rtl="0" algn="l">
              <a:lnSpc>
                <a:spcPct val="177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Space Grotesk"/>
              <a:buNone/>
            </a:pPr>
            <a:r>
              <a:rPr b="1" i="0" lang="en-US" sz="734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Interface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1875234" y="2540301"/>
            <a:ext cx="2000250" cy="421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153025" lIns="136000" spcFirstLastPara="1" rIns="136000" wrap="square" tIns="153025">
            <a:spAutoFit/>
          </a:bodyPr>
          <a:lstStyle/>
          <a:p>
            <a:pPr indent="0" lvl="0" marL="0" marR="0" rtl="0" algn="l">
              <a:lnSpc>
                <a:spcPct val="177111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734"/>
              <a:buFont typeface="Space Grotesk"/>
              <a:buNone/>
            </a:pPr>
            <a:r>
              <a:rPr b="1" i="0" lang="en-US" sz="734" u="none" cap="none" strike="noStrike">
                <a:solidFill>
                  <a:srgbClr val="0066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Streamlit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901105" y="2540301"/>
            <a:ext cx="48399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3025" lIns="136000" spcFirstLastPara="1" rIns="136000" wrap="square" tIns="153025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Interface intuitiva e rápida para usuários finais.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46484" y="2961782"/>
            <a:ext cx="1428750" cy="425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53025" lIns="136000" spcFirstLastPara="1" rIns="136000" wrap="square" tIns="153025">
            <a:spAutoFit/>
          </a:bodyPr>
          <a:lstStyle/>
          <a:p>
            <a:pPr indent="0" lvl="0" marL="0" marR="0" rtl="0" algn="l">
              <a:lnSpc>
                <a:spcPct val="177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Space Grotesk"/>
              <a:buNone/>
            </a:pPr>
            <a:r>
              <a:rPr b="1" i="0" lang="en-US" sz="734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IA &amp; Processamento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875234" y="2961782"/>
            <a:ext cx="2000250" cy="425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53025" lIns="136000" spcFirstLastPara="1" rIns="136000" wrap="square" tIns="153025">
            <a:spAutoFit/>
          </a:bodyPr>
          <a:lstStyle/>
          <a:p>
            <a:pPr indent="0" lvl="0" marL="0" marR="0" rtl="0" algn="l">
              <a:lnSpc>
                <a:spcPct val="177111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734"/>
              <a:buFont typeface="Space Grotesk"/>
              <a:buNone/>
            </a:pPr>
            <a:r>
              <a:rPr b="1" i="0" lang="en-US" sz="734" u="none" cap="none" strike="noStrike">
                <a:solidFill>
                  <a:srgbClr val="0066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LangChain + GPT-4-Turbo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901105" y="2961782"/>
            <a:ext cx="48399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3025" lIns="136000" spcFirstLastPara="1" rIns="136000" wrap="square" tIns="153025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Extração inteligente de PDFs e geração de conclusões em linguagem natural.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46484" y="3386835"/>
            <a:ext cx="1428750" cy="425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53025" lIns="136000" spcFirstLastPara="1" rIns="136000" wrap="square" tIns="153025">
            <a:spAutoFit/>
          </a:bodyPr>
          <a:lstStyle/>
          <a:p>
            <a:pPr indent="0" lvl="0" marL="0" marR="0" rtl="0" algn="l">
              <a:lnSpc>
                <a:spcPct val="177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Space Grotesk"/>
              <a:buNone/>
            </a:pPr>
            <a:r>
              <a:rPr b="1" i="0" lang="en-US" sz="734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Dados &amp; Web Scraping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875234" y="3386835"/>
            <a:ext cx="2000250" cy="425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53025" lIns="136000" spcFirstLastPara="1" rIns="136000" wrap="square" tIns="153025">
            <a:spAutoFit/>
          </a:bodyPr>
          <a:lstStyle/>
          <a:p>
            <a:pPr indent="0" lvl="0" marL="0" marR="0" rtl="0" algn="l">
              <a:lnSpc>
                <a:spcPct val="177111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734"/>
              <a:buFont typeface="Space Grotesk"/>
              <a:buNone/>
            </a:pPr>
            <a:r>
              <a:rPr b="1" i="0" lang="en-US" sz="734" u="none" cap="none" strike="noStrike">
                <a:solidFill>
                  <a:srgbClr val="0066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SQLite, Pandas, lxml, PyMuPDF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3901105" y="3386835"/>
            <a:ext cx="48399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3025" lIns="136000" spcFirstLastPara="1" rIns="136000" wrap="square" tIns="153025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Web scraping automático da Tabela TIPI com dados sempre atualizados.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46484" y="3811888"/>
            <a:ext cx="1428750" cy="432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3025" lIns="136000" spcFirstLastPara="1" rIns="136000" wrap="square" tIns="153025">
            <a:spAutoFit/>
          </a:bodyPr>
          <a:lstStyle/>
          <a:p>
            <a:pPr indent="0" lvl="0" marL="0" marR="0" rtl="0" algn="l">
              <a:lnSpc>
                <a:spcPct val="177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Space Grotesk"/>
              <a:buNone/>
            </a:pPr>
            <a:r>
              <a:rPr b="1" i="0" lang="en-US" sz="734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Princípio Fundamental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1875234" y="3811888"/>
            <a:ext cx="2000250" cy="432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3025" lIns="136000" spcFirstLastPara="1" rIns="136000" wrap="square" tIns="153025">
            <a:spAutoFit/>
          </a:bodyPr>
          <a:lstStyle/>
          <a:p>
            <a:pPr indent="0" lvl="0" marL="0" marR="0" rtl="0" algn="l">
              <a:lnSpc>
                <a:spcPct val="177111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734"/>
              <a:buFont typeface="Space Grotesk"/>
              <a:buNone/>
            </a:pPr>
            <a:r>
              <a:rPr b="1" i="0" lang="en-US" sz="734" u="none" cap="none" strike="noStrike">
                <a:solidFill>
                  <a:srgbClr val="0066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Regra de Ouro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913916" y="3811888"/>
            <a:ext cx="48399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3025" lIns="136000" spcFirstLastPara="1" rIns="136000" wrap="square" tIns="153025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Zero alucinações em dados fiscais — precisão absoluta em validações críticas.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7"/>
          <p:cNvCxnSpPr/>
          <p:nvPr/>
        </p:nvCxnSpPr>
        <p:spPr>
          <a:xfrm>
            <a:off x="8704155" y="2527559"/>
            <a:ext cx="20100" cy="1723200"/>
          </a:xfrm>
          <a:prstGeom prst="straightConnector1">
            <a:avLst/>
          </a:prstGeom>
          <a:noFill/>
          <a:ln cap="flat" cmpd="sng" w="19050">
            <a:solidFill>
              <a:srgbClr val="0066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7" name="Google Shape;16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75211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/>
          <p:nvPr/>
        </p:nvSpPr>
        <p:spPr>
          <a:xfrm>
            <a:off x="428625" y="428625"/>
            <a:ext cx="8286750" cy="822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6"/>
              <a:buFont typeface="Noto Sans"/>
              <a:buNone/>
            </a:pPr>
            <a: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Fluxo de Trabalho</a:t>
            </a:r>
            <a:b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em 3 Passos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357703" y="1608739"/>
            <a:ext cx="5230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322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3293"/>
              <a:buFont typeface="Noto Sans"/>
              <a:buNone/>
            </a:pPr>
            <a:r>
              <a:rPr b="1" i="0" lang="en-US" sz="3293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365628" y="2180239"/>
            <a:ext cx="507206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22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Noto Sans"/>
              <a:buNone/>
            </a:pPr>
            <a:r>
              <a:rPr b="1" i="0" lang="en-US" sz="98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Upload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428625" y="2480277"/>
            <a:ext cx="238124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34"/>
              <a:buFont typeface="Noto Sans"/>
              <a:buNone/>
            </a:pPr>
            <a:r>
              <a:rPr b="0" i="0" lang="en-US" sz="834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Usuário carrega documento fiscal (XML ou PDF)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2952741" y="2001645"/>
            <a:ext cx="28577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65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016"/>
              <a:buFont typeface="Noto Sans"/>
              <a:buNone/>
            </a:pPr>
            <a:r>
              <a:rPr b="1" i="0" lang="en-US" sz="2016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 b="0" i="0" sz="20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310472" y="1694464"/>
            <a:ext cx="5230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322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3293"/>
              <a:buFont typeface="Noto Sans"/>
              <a:buNone/>
            </a:pPr>
            <a:r>
              <a:rPr b="1" i="0" lang="en-US" sz="3293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4024275" y="2265964"/>
            <a:ext cx="1095449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22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Noto Sans"/>
              <a:buNone/>
            </a:pPr>
            <a:r>
              <a:rPr b="1" i="0" lang="en-US" sz="98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Processamento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3552285" y="2566002"/>
            <a:ext cx="203945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34"/>
              <a:buFont typeface="Noto Sans"/>
              <a:buNone/>
            </a:pPr>
            <a:r>
              <a:rPr b="0" i="0" lang="en-US" sz="834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IA extrai, valida e audita em segundos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5905509" y="2001645"/>
            <a:ext cx="28577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65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016"/>
              <a:buFont typeface="Noto Sans"/>
              <a:buNone/>
            </a:pPr>
            <a:r>
              <a:rPr b="1" i="0" lang="en-US" sz="2016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 b="0" i="0" sz="20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7263240" y="1608739"/>
            <a:ext cx="5230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322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3293"/>
              <a:buFont typeface="Noto Sans"/>
              <a:buNone/>
            </a:pPr>
            <a:r>
              <a:rPr b="1" i="0" lang="en-US" sz="3293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7167581" y="2180239"/>
            <a:ext cx="71437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22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Noto Sans"/>
              <a:buNone/>
            </a:pPr>
            <a:r>
              <a:rPr b="1" i="0" lang="en-US" sz="987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Resultado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6334162" y="2480277"/>
            <a:ext cx="238124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34"/>
              <a:buFont typeface="Noto Sans"/>
              <a:buNone/>
            </a:pPr>
            <a:r>
              <a:rPr b="0" i="0" lang="en-US" sz="834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Conclusão detalhada + Dashboard com histórico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0" name="Google Shape;18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2938918"/>
            <a:ext cx="8286747" cy="20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6" name="Google Shape;18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9"/>
          <p:cNvSpPr/>
          <p:nvPr/>
        </p:nvSpPr>
        <p:spPr>
          <a:xfrm>
            <a:off x="0" y="0"/>
            <a:ext cx="25002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285750"/>
            <a:ext cx="1928813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9"/>
          <p:cNvSpPr/>
          <p:nvPr/>
        </p:nvSpPr>
        <p:spPr>
          <a:xfrm>
            <a:off x="2928938" y="985140"/>
            <a:ext cx="5786438" cy="822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6"/>
              <a:buFont typeface="Noto Sans"/>
              <a:buNone/>
            </a:pPr>
            <a: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Resultados</a:t>
            </a:r>
            <a:b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Esperados e Impacto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3071813" y="2058098"/>
            <a:ext cx="673047" cy="367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619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808"/>
              <a:buFont typeface="Noto Sans"/>
              <a:buNone/>
            </a:pPr>
            <a:r>
              <a:rPr b="1" i="0" lang="en-US" sz="1808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80%+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3873447" y="2058098"/>
            <a:ext cx="2659624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4"/>
              <a:buFont typeface="Noto Sans"/>
              <a:buNone/>
            </a:pPr>
            <a:r>
              <a:rPr b="1" i="0" lang="en-US" sz="834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Redução de Tempo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3873447" y="2275982"/>
            <a:ext cx="2659624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Diminuição significativa no tempo de auditoria fiscal.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3071813" y="2583163"/>
            <a:ext cx="673047" cy="367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619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808"/>
              <a:buFont typeface="Noto Sans"/>
              <a:buNone/>
            </a:pPr>
            <a:r>
              <a:rPr b="1" i="0" lang="en-US" sz="1808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99%+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3873447" y="2583163"/>
            <a:ext cx="2404709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4"/>
              <a:buFont typeface="Noto Sans"/>
              <a:buNone/>
            </a:pPr>
            <a:r>
              <a:rPr b="1" i="0" lang="en-US" sz="834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Precisão nas Validações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3873447" y="2801048"/>
            <a:ext cx="2404709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Acurácia em detecção de inconsistências fiscais.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3071813" y="3108229"/>
            <a:ext cx="357188" cy="367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619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808"/>
              <a:buFont typeface="Noto Sans"/>
              <a:buNone/>
            </a:pPr>
            <a:r>
              <a:rPr b="1" i="0" lang="en-US" sz="1808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↑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3557588" y="3108229"/>
            <a:ext cx="2484853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4"/>
              <a:buFont typeface="Noto Sans"/>
              <a:buNone/>
            </a:pPr>
            <a:r>
              <a:rPr b="1" i="0" lang="en-US" sz="834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Aumento de Produtividade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3557588" y="3326113"/>
            <a:ext cx="248485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Equipe fiscal pode focar em análises estratégicas.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3071813" y="3633295"/>
            <a:ext cx="389641" cy="367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619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808"/>
              <a:buFont typeface="Noto Sans"/>
              <a:buNone/>
            </a:pPr>
            <a:r>
              <a:rPr b="1" i="0" lang="en-US" sz="1808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3M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3590041" y="3633295"/>
            <a:ext cx="2586010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4"/>
              <a:buFont typeface="Noto Sans"/>
              <a:buNone/>
            </a:pPr>
            <a:r>
              <a:rPr b="1" i="0" lang="en-US" sz="834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ROI Positivo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3590041" y="3851179"/>
            <a:ext cx="258601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Retorno sobre investimento em menos de 3 meses.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/>
          <p:nvPr/>
        </p:nvSpPr>
        <p:spPr>
          <a:xfrm>
            <a:off x="428625" y="428625"/>
            <a:ext cx="5072063" cy="822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6"/>
              <a:buFont typeface="Noto Sans"/>
              <a:buNone/>
            </a:pPr>
            <a: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Roadmap e</a:t>
            </a:r>
            <a:b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1" i="0" lang="en-US" sz="2436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Call to Action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428625" y="1431124"/>
            <a:ext cx="50721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Noto Sans"/>
              <a:buNone/>
            </a:pPr>
            <a:r>
              <a:rPr b="1" i="0" lang="en-US" sz="885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Próximos Passos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578644" y="1766880"/>
            <a:ext cx="2571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796"/>
              </a:lnSpc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397"/>
              <a:buFont typeface="Noto Sans"/>
              <a:buNone/>
            </a:pPr>
            <a:r>
              <a:rPr b="1" i="0" lang="en-US" sz="1397" u="none" cap="none" strike="noStrike">
                <a:solidFill>
                  <a:srgbClr val="FF3366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950119" y="1766880"/>
            <a:ext cx="1817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Integração com ERPs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950119" y="1938330"/>
            <a:ext cx="18171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Conectar com sistemas ERP populares.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578644" y="2192631"/>
            <a:ext cx="2571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796"/>
              </a:lnSpc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397"/>
              <a:buFont typeface="Noto Sans"/>
              <a:buNone/>
            </a:pPr>
            <a:r>
              <a:rPr b="1" i="0" lang="en-US" sz="1397" u="none" cap="none" strike="noStrike">
                <a:solidFill>
                  <a:srgbClr val="FF3366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950119" y="2192631"/>
            <a:ext cx="2342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Suporte a Mais Documentos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950119" y="2364081"/>
            <a:ext cx="2342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Expandir para outros tipos de documentos fiscais.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578644" y="2618382"/>
            <a:ext cx="2571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796"/>
              </a:lnSpc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397"/>
              <a:buFont typeface="Noto Sans"/>
              <a:buNone/>
            </a:pPr>
            <a:r>
              <a:rPr b="1" i="0" lang="en-US" sz="1397" u="none" cap="none" strike="noStrike">
                <a:solidFill>
                  <a:srgbClr val="FF3366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950119" y="2618382"/>
            <a:ext cx="2319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API para Automação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950119" y="2789832"/>
            <a:ext cx="23190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Interface para integração completa e automação.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578644" y="3044132"/>
            <a:ext cx="2571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796"/>
              </a:lnSpc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397"/>
              <a:buFont typeface="Noto Sans"/>
              <a:buNone/>
            </a:pPr>
            <a:r>
              <a:rPr b="1" i="0" lang="en-US" sz="1397" u="none" cap="none" strike="noStrike">
                <a:solidFill>
                  <a:srgbClr val="FF3366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950119" y="3044132"/>
            <a:ext cx="2078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Machine Learning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950119" y="3215582"/>
            <a:ext cx="2078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27"/>
              <a:buFont typeface="Noto Sans"/>
              <a:buNone/>
            </a:pPr>
            <a:r>
              <a:rPr b="0" i="0" lang="en-US" sz="727" u="none" cap="none" strike="noStrike">
                <a:solidFill>
                  <a:srgbClr val="1A1A1A"/>
                </a:solidFill>
                <a:latin typeface="Noto Sans"/>
                <a:ea typeface="Noto Sans"/>
                <a:cs typeface="Noto Sans"/>
                <a:sym typeface="Noto Sans"/>
              </a:rPr>
              <a:t>Detecção de anomalias e padrões suspeitos.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428625" y="3446092"/>
            <a:ext cx="50721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Noto Sans"/>
              <a:buNone/>
            </a:pPr>
            <a:r>
              <a:rPr b="1" i="0" lang="en-US" sz="885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Experimente Agora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578644" y="3781848"/>
            <a:ext cx="2286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644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193"/>
              <a:buFont typeface="Noto Sans"/>
              <a:buNone/>
            </a:pPr>
            <a:r>
              <a:rPr b="1" i="0" lang="en-US" sz="1193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🔗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907256" y="3781848"/>
            <a:ext cx="2040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GitHub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907256" y="3967586"/>
            <a:ext cx="20400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054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683"/>
              <a:buFont typeface="Noto Sans"/>
              <a:buNone/>
            </a:pPr>
            <a:r>
              <a:rPr b="1" i="0" lang="en-US" sz="683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github.com/backhenry/Agente-Fiscal-i2a2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578644" y="4207599"/>
            <a:ext cx="2286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644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193"/>
              <a:buFont typeface="Noto Sans"/>
              <a:buNone/>
            </a:pPr>
            <a:r>
              <a:rPr b="1" i="0" lang="en-US" sz="1193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📧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907256" y="4207599"/>
            <a:ext cx="1986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Contato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907256" y="4393337"/>
            <a:ext cx="19866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054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683"/>
              <a:buFont typeface="Noto Sans"/>
              <a:buNone/>
            </a:pPr>
            <a:r>
              <a:rPr b="1" i="0" lang="en-US" sz="683" cap="none" strike="noStrike">
                <a:solidFill>
                  <a:schemeClr val="hlink"/>
                </a:solidFill>
                <a:uFill>
                  <a:noFill/>
                </a:uFill>
                <a:latin typeface="Noto Sans"/>
                <a:ea typeface="Noto Sans"/>
                <a:cs typeface="Noto Sans"/>
                <a:sym typeface="Noto Sans"/>
                <a:hlinkClick r:id="rId3"/>
              </a:rPr>
              <a:t>Entre em contato para mais informações</a:t>
            </a:r>
            <a:endParaRPr b="0" i="0" sz="683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578644" y="4633350"/>
            <a:ext cx="2286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644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193"/>
              <a:buFont typeface="Noto Sans"/>
              <a:buNone/>
            </a:pPr>
            <a:r>
              <a:rPr b="1" i="0" lang="en-US" sz="1193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🚀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907256" y="4633350"/>
            <a:ext cx="2036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Noto Sans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Demo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>
            <a:hlinkClick r:id="rId4"/>
          </p:cNvPr>
          <p:cNvSpPr/>
          <p:nvPr/>
        </p:nvSpPr>
        <p:spPr>
          <a:xfrm>
            <a:off x="907256" y="4819087"/>
            <a:ext cx="20361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054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683"/>
              <a:buFont typeface="Noto Sans"/>
              <a:buNone/>
            </a:pPr>
            <a:r>
              <a:rPr b="1" i="0" lang="en-US" sz="683" u="none" cap="none" strike="noStrike">
                <a:solidFill>
                  <a:srgbClr val="0066FF"/>
                </a:solidFill>
                <a:latin typeface="Noto Sans"/>
                <a:ea typeface="Noto Sans"/>
                <a:cs typeface="Noto Sans"/>
                <a:sym typeface="Noto Sans"/>
              </a:rPr>
              <a:t>Solicite uma demonstração personalizada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5929313" y="0"/>
            <a:ext cx="3214688" cy="6010601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2" name="Google Shape;23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3" y="285750"/>
            <a:ext cx="2643188" cy="543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2025-11-02T18:09:32Z</dcterms:created>
  <dc:creator>PptxGenJS</dc:creator>
</cp:coreProperties>
</file>